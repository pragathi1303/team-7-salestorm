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7" r:id="rId5"/>
    <p:sldId id="266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0887" y="315468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400" b="1">
                <a:solidFill>
                  <a:srgbClr val="F5F8FF"/>
                </a:solidFill>
                <a:latin typeface="Aptos"/>
              </a:defRPr>
            </a:pPr>
            <a:r>
              <a:rPr dirty="0"/>
              <a:t>SALESTORM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887" y="969518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0">
                <a:solidFill>
                  <a:srgbClr val="B2C2DA"/>
                </a:solidFill>
                <a:latin typeface="Aptos"/>
              </a:defRPr>
            </a:pPr>
            <a:r>
              <a:rPr dirty="0"/>
              <a:t>High-Scale E-Commerce Flash Sale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8" y="2066798"/>
            <a:ext cx="9601200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5F8FF"/>
                </a:solidFill>
                <a:latin typeface="Aptos"/>
              </a:defRPr>
            </a:pPr>
            <a:r>
              <a:rPr lang="en-US" dirty="0"/>
              <a:t>TEAM MEMBERS </a:t>
            </a:r>
          </a:p>
          <a:p>
            <a:pPr>
              <a:spcAft>
                <a:spcPts val="800"/>
              </a:spcAft>
              <a:defRPr sz="2000" b="1">
                <a:solidFill>
                  <a:srgbClr val="F5F8FF"/>
                </a:solidFill>
                <a:latin typeface="Aptos"/>
              </a:defRPr>
            </a:pPr>
            <a:r>
              <a:rPr lang="en-US" dirty="0"/>
              <a:t>Aishwarya A</a:t>
            </a:r>
          </a:p>
          <a:p>
            <a:pPr>
              <a:spcAft>
                <a:spcPts val="800"/>
              </a:spcAft>
              <a:defRPr sz="2000" b="1">
                <a:solidFill>
                  <a:srgbClr val="F5F8FF"/>
                </a:solidFill>
                <a:latin typeface="Aptos"/>
              </a:defRPr>
            </a:pPr>
            <a:r>
              <a:rPr lang="en-US" dirty="0"/>
              <a:t>Gayathri Devi K</a:t>
            </a:r>
          </a:p>
          <a:p>
            <a:pPr>
              <a:spcAft>
                <a:spcPts val="800"/>
              </a:spcAft>
              <a:defRPr sz="2000" b="1">
                <a:solidFill>
                  <a:srgbClr val="F5F8FF"/>
                </a:solidFill>
                <a:latin typeface="Aptos"/>
              </a:defRPr>
            </a:pPr>
            <a:r>
              <a:rPr lang="en-US" dirty="0" err="1"/>
              <a:t>Pragathi</a:t>
            </a:r>
            <a:r>
              <a:rPr lang="en-US" dirty="0"/>
              <a:t> S</a:t>
            </a:r>
          </a:p>
          <a:p>
            <a:pPr>
              <a:spcAft>
                <a:spcPts val="800"/>
              </a:spcAft>
              <a:defRPr sz="2000" b="1">
                <a:solidFill>
                  <a:srgbClr val="F5F8FF"/>
                </a:solidFill>
                <a:latin typeface="Aptos"/>
              </a:defRPr>
            </a:pPr>
            <a:r>
              <a:rPr lang="en-US" dirty="0" err="1"/>
              <a:t>Suruthi</a:t>
            </a:r>
            <a:r>
              <a:rPr lang="en-US" dirty="0"/>
              <a:t> V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822958" y="5399532"/>
            <a:ext cx="2926080" cy="777240"/>
          </a:xfrm>
          <a:prstGeom prst="roundRect">
            <a:avLst/>
          </a:prstGeom>
          <a:solidFill>
            <a:srgbClr val="162748"/>
          </a:solidFill>
          <a:ln>
            <a:solidFill>
              <a:srgbClr val="2D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54223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A64D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897880"/>
            <a:ext cx="2560320" cy="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10,000 requests • 100 units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38447" y="5399532"/>
            <a:ext cx="2926080" cy="777240"/>
          </a:xfrm>
          <a:prstGeom prst="roundRect">
            <a:avLst/>
          </a:prstGeom>
          <a:solidFill>
            <a:srgbClr val="162748"/>
          </a:solidFill>
          <a:ln>
            <a:solidFill>
              <a:srgbClr val="2D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60520" y="54223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D2DC"/>
                </a:solidFill>
                <a:latin typeface="Aptos"/>
              </a:defRPr>
            </a:pPr>
            <a:r>
              <a:t>THE FOCUS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5897880"/>
            <a:ext cx="2560320" cy="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Correctness + scalability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53936" y="5408422"/>
            <a:ext cx="3291840" cy="777240"/>
          </a:xfrm>
          <a:prstGeom prst="roundRect">
            <a:avLst/>
          </a:prstGeom>
          <a:solidFill>
            <a:srgbClr val="162748"/>
          </a:solidFill>
          <a:ln>
            <a:solidFill>
              <a:srgbClr val="2D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0" y="54223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D2DC"/>
                </a:solidFill>
                <a:latin typeface="Aptos"/>
              </a:defRPr>
            </a:pPr>
            <a:r>
              <a:rPr dirty="0"/>
              <a:t>THE 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5897880"/>
            <a:ext cx="2926080" cy="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Defensible design blueprint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7395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00D2DC"/>
                </a:solidFill>
                <a:latin typeface="Aptos"/>
              </a:defRPr>
            </a:pPr>
            <a:r>
              <a:t>01/10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rPr dirty="0"/>
              <a:t>01  Problem &amp; Business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00D2DC"/>
                </a:solidFill>
                <a:latin typeface="Aptos"/>
              </a:defRPr>
            </a:pPr>
            <a:r>
              <a:t>02/10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83280" cy="1417320"/>
          </a:xfrm>
          <a:prstGeom prst="roundRect">
            <a:avLst/>
          </a:prstGeom>
          <a:solidFill>
            <a:srgbClr val="162748"/>
          </a:solidFill>
          <a:ln>
            <a:solidFill>
              <a:srgbClr val="2D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7335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A64D"/>
                </a:solidFill>
                <a:latin typeface="Aptos"/>
              </a:defRPr>
            </a:pPr>
            <a:r>
              <a:t>10,000 CUSTOMERS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39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Simultaneous “Buy Now” requests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383280" cy="1417320"/>
          </a:xfrm>
          <a:prstGeom prst="roundRect">
            <a:avLst/>
          </a:prstGeom>
          <a:solidFill>
            <a:srgbClr val="162748"/>
          </a:solidFill>
          <a:ln>
            <a:solidFill>
              <a:srgbClr val="2D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67335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D2DC"/>
                </a:solidFill>
                <a:latin typeface="Aptos"/>
              </a:defRPr>
            </a:pPr>
            <a:r>
              <a:t>100 AVAILABLE UNITS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48839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Only 100 successful sales allowed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08760"/>
            <a:ext cx="3383280" cy="1417320"/>
          </a:xfrm>
          <a:prstGeom prst="roundRect">
            <a:avLst/>
          </a:prstGeom>
          <a:solidFill>
            <a:srgbClr val="162748"/>
          </a:solidFill>
          <a:ln>
            <a:solidFill>
              <a:srgbClr val="2D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167335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D2DC"/>
                </a:solidFill>
                <a:latin typeface="Aptos"/>
              </a:defRPr>
            </a:pPr>
            <a:r>
              <a:t>ZERO OVERSELLING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48839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Inventory must never become negative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74720"/>
            <a:ext cx="10241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F5F8FF"/>
                </a:solidFill>
                <a:latin typeface="Aptos"/>
              </a:defRPr>
            </a:pPr>
            <a:r>
              <a:t>•  Handle traffic spikes without system collapse.</a:t>
            </a:r>
          </a:p>
          <a:p>
            <a:pPr>
              <a:spcAft>
                <a:spcPts val="800"/>
              </a:spcAft>
              <a:defRPr sz="1900" b="0">
                <a:solidFill>
                  <a:srgbClr val="F5F8FF"/>
                </a:solidFill>
                <a:latin typeface="Aptos"/>
              </a:defRPr>
            </a:pPr>
            <a:r>
              <a:t>•  Prevent duplicate reservations, payments and orders.</a:t>
            </a:r>
          </a:p>
          <a:p>
            <a:pPr>
              <a:spcAft>
                <a:spcPts val="800"/>
              </a:spcAft>
              <a:defRPr sz="1900" b="0">
                <a:solidFill>
                  <a:srgbClr val="F5F8FF"/>
                </a:solidFill>
                <a:latin typeface="Aptos"/>
              </a:defRPr>
            </a:pPr>
            <a:r>
              <a:t>•  Keep order state correct even when services fail.</a:t>
            </a:r>
          </a:p>
          <a:p>
            <a:pPr>
              <a:spcAft>
                <a:spcPts val="800"/>
              </a:spcAft>
              <a:defRPr sz="1900" b="0">
                <a:solidFill>
                  <a:srgbClr val="F5F8FF"/>
                </a:solidFill>
                <a:latin typeface="Aptos"/>
              </a:defRPr>
            </a:pPr>
            <a:r>
              <a:t>•  Recover safely from payment, database or downstream outages.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rPr dirty="0"/>
              <a:t>02</a:t>
            </a:r>
            <a:r>
              <a:rPr lang="en-US" dirty="0"/>
              <a:t> </a:t>
            </a:r>
            <a:r>
              <a:rPr dirty="0"/>
              <a:t>Requirements &amp; Success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00D2DC"/>
                </a:solidFill>
                <a:latin typeface="Aptos"/>
              </a:defRPr>
            </a:pPr>
            <a:r>
              <a:t>03/10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4389120"/>
          </a:xfrm>
          <a:prstGeom prst="roundRect">
            <a:avLst/>
          </a:prstGeom>
          <a:solidFill>
            <a:srgbClr val="162748"/>
          </a:solidFill>
          <a:ln>
            <a:solidFill>
              <a:srgbClr val="2D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D2DC"/>
                </a:solidFill>
                <a:latin typeface="Aptos"/>
              </a:defRPr>
            </a:pPr>
            <a:r>
              <a:t>FUNCTIONAL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Browse products and manage cart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Reserve stock temporarily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Checkout and process payment safely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Confirm, cancel or release reservations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Track orders, shipment and notifications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4389120"/>
          </a:xfrm>
          <a:prstGeom prst="roundRect">
            <a:avLst/>
          </a:prstGeom>
          <a:solidFill>
            <a:srgbClr val="162748"/>
          </a:solidFill>
          <a:ln>
            <a:solidFill>
              <a:srgbClr val="2D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58191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A64D"/>
                </a:solidFill>
                <a:latin typeface="Aptos"/>
              </a:defRPr>
            </a:pPr>
            <a:r>
              <a:t>NON-FUNCTIONAL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Scale horizontally during peak traffic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Protect consistency at inventory boundary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Use idempotent payment/order requests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Secure APIs and payment data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Monitor latency, errors and failures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rPr dirty="0"/>
              <a:t>0</a:t>
            </a:r>
            <a:r>
              <a:rPr lang="en-US" dirty="0"/>
              <a:t>3</a:t>
            </a:r>
            <a:r>
              <a:rPr dirty="0"/>
              <a:t> </a:t>
            </a:r>
            <a:r>
              <a:rPr lang="en-IN" sz="2800" b="1" dirty="0"/>
              <a:t>Virtual Queue Management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00D2DC"/>
                </a:solidFill>
                <a:latin typeface="Aptos"/>
              </a:defRPr>
            </a:pPr>
            <a:r>
              <a:t>05/10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19"/>
            <a:ext cx="3383280" cy="2534921"/>
          </a:xfrm>
          <a:prstGeom prst="roundRect">
            <a:avLst/>
          </a:prstGeom>
          <a:solidFill>
            <a:srgbClr val="162748"/>
          </a:solidFill>
          <a:ln>
            <a:solidFill>
              <a:srgbClr val="2D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4880" y="1561676"/>
            <a:ext cx="3017520" cy="216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D2DC"/>
                </a:solidFill>
                <a:latin typeface="Aptos"/>
              </a:defRPr>
            </a:pPr>
            <a:r>
              <a:rPr dirty="0"/>
              <a:t>1.</a:t>
            </a:r>
            <a:r>
              <a:rPr lang="en-US" sz="1600" b="1" dirty="0"/>
              <a:t> Digital Queue: </a:t>
            </a:r>
            <a:r>
              <a:rPr lang="en-US" sz="1600" b="1" dirty="0">
                <a:solidFill>
                  <a:schemeClr val="bg2"/>
                </a:solidFill>
              </a:rPr>
              <a:t>Customers are placed in a virtual waiting line when traffic exceeds the system's capacity</a:t>
            </a:r>
          </a:p>
          <a:p>
            <a:pPr>
              <a:spcAft>
                <a:spcPts val="800"/>
              </a:spcAft>
              <a:defRPr sz="1600" b="1">
                <a:solidFill>
                  <a:srgbClr val="00D2DC"/>
                </a:solidFill>
                <a:latin typeface="Aptos"/>
              </a:defRPr>
            </a:pPr>
            <a:r>
              <a:rPr lang="en-US" sz="1600" b="1" dirty="0">
                <a:solidFill>
                  <a:srgbClr val="00D2DC"/>
                </a:solidFill>
                <a:latin typeface="Aptos"/>
              </a:rPr>
              <a:t>2.Fair </a:t>
            </a:r>
            <a:r>
              <a:rPr lang="en-US" sz="1600" b="1" dirty="0"/>
              <a:t>Access: </a:t>
            </a:r>
            <a:r>
              <a:rPr lang="en-US" sz="1600" b="1" dirty="0">
                <a:solidFill>
                  <a:schemeClr val="bg2"/>
                </a:solidFill>
              </a:rPr>
              <a:t>A queue token maintains the customer's position and controls access to the flash sale.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83280" cy="2534920"/>
          </a:xfrm>
          <a:prstGeom prst="roundRect">
            <a:avLst/>
          </a:prstGeom>
          <a:solidFill>
            <a:srgbClr val="162748"/>
          </a:solidFill>
          <a:ln>
            <a:solidFill>
              <a:srgbClr val="2D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581912"/>
            <a:ext cx="3017520" cy="1672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A64D"/>
                </a:solidFill>
                <a:latin typeface="Aptos"/>
              </a:defRPr>
            </a:pPr>
            <a:r>
              <a:rPr lang="en-IN" sz="1600" b="1" dirty="0"/>
              <a:t>3.</a:t>
            </a:r>
            <a:r>
              <a:rPr lang="en-US" sz="1600" b="1" dirty="0"/>
              <a:t> Controlled Entry: </a:t>
            </a:r>
            <a:r>
              <a:rPr lang="en-US" sz="1600" b="1" dirty="0">
                <a:solidFill>
                  <a:schemeClr val="bg2"/>
                </a:solidFill>
              </a:rPr>
              <a:t>Customers are admitted in batches to prevent server overload.</a:t>
            </a:r>
          </a:p>
          <a:p>
            <a:pPr>
              <a:spcAft>
                <a:spcPts val="800"/>
              </a:spcAft>
              <a:defRPr sz="1600" b="1">
                <a:solidFill>
                  <a:srgbClr val="FFA64D"/>
                </a:solidFill>
                <a:latin typeface="Aptos"/>
              </a:defRPr>
            </a:pPr>
            <a:r>
              <a:rPr lang="en-US" sz="1600" b="1" dirty="0">
                <a:solidFill>
                  <a:schemeClr val="accent6"/>
                </a:solidFill>
              </a:rPr>
              <a:t>4.</a:t>
            </a:r>
            <a:r>
              <a:rPr lang="en-US" sz="1600" b="1" dirty="0"/>
              <a:t>Real-Time Updates: </a:t>
            </a:r>
            <a:r>
              <a:rPr lang="en-US" sz="1600" b="1" dirty="0">
                <a:solidFill>
                  <a:schemeClr val="bg1"/>
                </a:solidFill>
              </a:rPr>
              <a:t>Display queue position, estimated waiting time, and sale status.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383280" cy="2534920"/>
          </a:xfrm>
          <a:prstGeom prst="roundRect">
            <a:avLst/>
          </a:prstGeom>
          <a:solidFill>
            <a:srgbClr val="162748"/>
          </a:solidFill>
          <a:ln>
            <a:solidFill>
              <a:srgbClr val="2D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1581912"/>
            <a:ext cx="3017520" cy="216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D2DC"/>
                </a:solidFill>
                <a:latin typeface="Aptos"/>
              </a:defRPr>
            </a:pPr>
            <a:r>
              <a:rPr lang="en-US" sz="1600" b="1" dirty="0"/>
              <a:t>5.Session Validation: </a:t>
            </a:r>
            <a:r>
              <a:rPr lang="en-US" sz="1600" b="1" dirty="0">
                <a:solidFill>
                  <a:schemeClr val="bg1"/>
                </a:solidFill>
              </a:rPr>
              <a:t>Queue tokens expire and are validated to prevent duplicate or unauthorized access.</a:t>
            </a:r>
          </a:p>
          <a:p>
            <a:pPr>
              <a:spcAft>
                <a:spcPts val="800"/>
              </a:spcAft>
              <a:defRPr sz="1600" b="1">
                <a:solidFill>
                  <a:srgbClr val="00D2DC"/>
                </a:solidFill>
                <a:latin typeface="Aptos"/>
              </a:defRPr>
            </a:pPr>
            <a:r>
              <a:rPr lang="en-US" sz="1600" b="1" dirty="0">
                <a:solidFill>
                  <a:srgbClr val="00D2DC"/>
                </a:solidFill>
                <a:latin typeface="Aptos"/>
              </a:rPr>
              <a:t>6. </a:t>
            </a:r>
            <a:r>
              <a:rPr lang="en-US" sz="1600" b="1" dirty="0"/>
              <a:t>Stock Validation: </a:t>
            </a:r>
            <a:r>
              <a:rPr lang="en-US" sz="1600" b="1" dirty="0">
                <a:solidFill>
                  <a:schemeClr val="bg1"/>
                </a:solidFill>
              </a:rPr>
              <a:t>Inventory is checked again at checkout; entering the queue does not guarantee a purchase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44880" y="4087402"/>
            <a:ext cx="10241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00D2DC"/>
                </a:solidFill>
                <a:latin typeface="Aptos"/>
              </a:defRPr>
            </a:pPr>
            <a:r>
              <a:rPr lang="en-US" dirty="0"/>
              <a:t>WORKFLOW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482600" y="4618043"/>
            <a:ext cx="1087120" cy="640080"/>
          </a:xfrm>
          <a:prstGeom prst="roundRect">
            <a:avLst/>
          </a:prstGeom>
          <a:solidFill>
            <a:srgbClr val="162748"/>
          </a:solidFill>
          <a:ln>
            <a:solidFill>
              <a:srgbClr val="00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8FF"/>
                </a:solidFill>
              </a:defRPr>
            </a:pPr>
            <a:r>
              <a:rPr lang="en-US" dirty="0"/>
              <a:t>Customer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2235200" y="4636008"/>
            <a:ext cx="1239520" cy="640080"/>
          </a:xfrm>
          <a:prstGeom prst="roundRect">
            <a:avLst/>
          </a:prstGeom>
          <a:solidFill>
            <a:srgbClr val="162748"/>
          </a:solidFill>
          <a:ln>
            <a:solidFill>
              <a:srgbClr val="00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8FF"/>
                </a:solidFill>
              </a:defRPr>
            </a:pPr>
            <a:r>
              <a:rPr lang="en-US" dirty="0"/>
              <a:t>Virtual Queue</a:t>
            </a: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4175760" y="4589302"/>
            <a:ext cx="1239520" cy="686786"/>
          </a:xfrm>
          <a:prstGeom prst="roundRect">
            <a:avLst/>
          </a:prstGeom>
          <a:solidFill>
            <a:srgbClr val="162748"/>
          </a:solidFill>
          <a:ln>
            <a:solidFill>
              <a:srgbClr val="00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8FF"/>
                </a:solidFill>
              </a:defRPr>
            </a:pPr>
            <a:r>
              <a:rPr lang="en-US" dirty="0"/>
              <a:t>Queue token</a:t>
            </a:r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6248400" y="4618043"/>
            <a:ext cx="1645920" cy="640080"/>
          </a:xfrm>
          <a:prstGeom prst="roundRect">
            <a:avLst/>
          </a:prstGeom>
          <a:solidFill>
            <a:srgbClr val="162748"/>
          </a:solidFill>
          <a:ln>
            <a:solidFill>
              <a:srgbClr val="00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8FF"/>
                </a:solidFill>
              </a:defRPr>
            </a:pPr>
            <a:r>
              <a:rPr lang="en-US" dirty="0"/>
              <a:t>Controlled Admission</a:t>
            </a:r>
            <a:endParaRPr dirty="0"/>
          </a:p>
        </p:txBody>
      </p:sp>
      <p:sp>
        <p:nvSpPr>
          <p:cNvPr id="20" name="Rounded Rectangle 19"/>
          <p:cNvSpPr/>
          <p:nvPr/>
        </p:nvSpPr>
        <p:spPr>
          <a:xfrm>
            <a:off x="8559800" y="4627607"/>
            <a:ext cx="1397000" cy="630516"/>
          </a:xfrm>
          <a:prstGeom prst="roundRect">
            <a:avLst/>
          </a:prstGeom>
          <a:solidFill>
            <a:srgbClr val="162748"/>
          </a:solidFill>
          <a:ln>
            <a:solidFill>
              <a:srgbClr val="00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8FF"/>
                </a:solidFill>
              </a:defRPr>
            </a:pPr>
            <a:r>
              <a:rPr lang="en-US" dirty="0"/>
              <a:t>Stock Reservation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1671320" y="479261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D2DC"/>
                </a:solidFill>
                <a:latin typeface="Aptos"/>
              </a:defRPr>
            </a:pPr>
            <a:r>
              <a:rPr dirty="0"/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42360" y="479261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D2DC"/>
                </a:solidFill>
                <a:latin typeface="Aptos"/>
              </a:defRPr>
            </a:pPr>
            <a:r>
              <a:rPr dirty="0"/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33720" y="4800923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D2DC"/>
                </a:solidFill>
                <a:latin typeface="Aptos"/>
              </a:defRPr>
            </a:pPr>
            <a:r>
              <a:rPr dirty="0"/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3240" y="481888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D2DC"/>
                </a:solidFill>
                <a:latin typeface="Aptos"/>
              </a:defRPr>
            </a:pPr>
            <a:r>
              <a:rPr dirty="0"/>
              <a:t>→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615A87-490D-4276-84E2-AB583A2AB63E}"/>
              </a:ext>
            </a:extLst>
          </p:cNvPr>
          <p:cNvSpPr txBox="1"/>
          <p:nvPr/>
        </p:nvSpPr>
        <p:spPr>
          <a:xfrm>
            <a:off x="10073640" y="477954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D2DC"/>
                </a:solidFill>
                <a:latin typeface="Aptos"/>
              </a:defRPr>
            </a:pPr>
            <a:r>
              <a:rPr dirty="0"/>
              <a:t>→</a:t>
            </a:r>
          </a:p>
        </p:txBody>
      </p:sp>
      <p:sp>
        <p:nvSpPr>
          <p:cNvPr id="27" name="Rounded Rectangle 19">
            <a:extLst>
              <a:ext uri="{FF2B5EF4-FFF2-40B4-BE49-F238E27FC236}">
                <a16:creationId xmlns:a16="http://schemas.microsoft.com/office/drawing/2014/main" id="{DC91AB6E-4C40-44F0-9BAE-A80D7D3449A4}"/>
              </a:ext>
            </a:extLst>
          </p:cNvPr>
          <p:cNvSpPr/>
          <p:nvPr/>
        </p:nvSpPr>
        <p:spPr>
          <a:xfrm>
            <a:off x="10520680" y="4606284"/>
            <a:ext cx="1092200" cy="640080"/>
          </a:xfrm>
          <a:prstGeom prst="roundRect">
            <a:avLst/>
          </a:prstGeom>
          <a:solidFill>
            <a:srgbClr val="162748"/>
          </a:solidFill>
          <a:ln>
            <a:solidFill>
              <a:srgbClr val="00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8FF"/>
                </a:solidFill>
              </a:defRPr>
            </a:pPr>
            <a:r>
              <a:rPr lang="en-US" dirty="0"/>
              <a:t>checkout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88726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rPr dirty="0"/>
              <a:t>0</a:t>
            </a:r>
            <a:r>
              <a:rPr lang="en-US" dirty="0"/>
              <a:t>4</a:t>
            </a:r>
            <a:r>
              <a:rPr dirty="0"/>
              <a:t> High-Level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00D2DC"/>
                </a:solidFill>
                <a:latin typeface="Aptos"/>
              </a:defRPr>
            </a:pPr>
            <a:r>
              <a:t>04/10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74519"/>
            <a:ext cx="1508760" cy="914400"/>
          </a:xfrm>
          <a:prstGeom prst="roundRect">
            <a:avLst/>
          </a:prstGeom>
          <a:solidFill>
            <a:srgbClr val="162748"/>
          </a:solidFill>
          <a:ln>
            <a:solidFill>
              <a:srgbClr val="00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F"/>
                </a:solidFill>
              </a:defRPr>
            </a:pPr>
            <a:r>
              <a:t>Customers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40280" y="1874519"/>
            <a:ext cx="1508760" cy="914400"/>
          </a:xfrm>
          <a:prstGeom prst="roundRect">
            <a:avLst/>
          </a:prstGeom>
          <a:solidFill>
            <a:srgbClr val="162748"/>
          </a:solidFill>
          <a:ln>
            <a:solidFill>
              <a:srgbClr val="00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F"/>
                </a:solidFill>
              </a:defRPr>
            </a:pPr>
            <a:r>
              <a:t>CDN / WAF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874519"/>
            <a:ext cx="1508760" cy="914400"/>
          </a:xfrm>
          <a:prstGeom prst="roundRect">
            <a:avLst/>
          </a:prstGeom>
          <a:solidFill>
            <a:srgbClr val="162748"/>
          </a:solidFill>
          <a:ln>
            <a:solidFill>
              <a:srgbClr val="00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F"/>
                </a:solidFill>
              </a:defRPr>
            </a:pPr>
            <a:r>
              <a:t>Load Balancer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874519"/>
            <a:ext cx="1508760" cy="914400"/>
          </a:xfrm>
          <a:prstGeom prst="roundRect">
            <a:avLst/>
          </a:prstGeom>
          <a:solidFill>
            <a:srgbClr val="162748"/>
          </a:solidFill>
          <a:ln>
            <a:solidFill>
              <a:srgbClr val="00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F"/>
                </a:solidFill>
              </a:defRPr>
            </a:pPr>
            <a:r>
              <a:t>API Gateway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874519"/>
            <a:ext cx="1508760" cy="914400"/>
          </a:xfrm>
          <a:prstGeom prst="roundRect">
            <a:avLst/>
          </a:prstGeom>
          <a:solidFill>
            <a:srgbClr val="162748"/>
          </a:solidFill>
          <a:ln>
            <a:solidFill>
              <a:srgbClr val="00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F"/>
                </a:solidFill>
              </a:defRPr>
            </a:pPr>
            <a:r>
              <a:t>Product / Cart /</a:t>
            </a:r>
          </a:p>
          <a:p>
            <a:r>
              <a:t>Sale Services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38360" y="1874519"/>
            <a:ext cx="1508760" cy="914400"/>
          </a:xfrm>
          <a:prstGeom prst="roundRect">
            <a:avLst/>
          </a:prstGeom>
          <a:solidFill>
            <a:srgbClr val="162748"/>
          </a:solidFill>
          <a:ln>
            <a:solidFill>
              <a:srgbClr val="00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F"/>
                </a:solidFill>
              </a:defRPr>
            </a:pPr>
            <a:r>
              <a:t>Inventory /</a:t>
            </a:r>
          </a:p>
          <a:p>
            <a:r>
              <a:t>Reservation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1214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D2D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1214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D2D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1214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D2D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1214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D2D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1214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D2D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49039"/>
            <a:ext cx="3383280" cy="1325880"/>
          </a:xfrm>
          <a:prstGeom prst="roundRect">
            <a:avLst/>
          </a:prstGeom>
          <a:solidFill>
            <a:srgbClr val="162748"/>
          </a:solidFill>
          <a:ln>
            <a:solidFill>
              <a:srgbClr val="2D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91363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A64D"/>
                </a:solidFill>
                <a:latin typeface="Aptos"/>
              </a:defRPr>
            </a:pPr>
            <a:r>
              <a:t>CHECKOUT &amp; PAYMENTS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89120"/>
            <a:ext cx="301752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Idempotency • timeouts • safe retries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749039"/>
            <a:ext cx="3383280" cy="1325880"/>
          </a:xfrm>
          <a:prstGeom prst="roundRect">
            <a:avLst/>
          </a:prstGeom>
          <a:solidFill>
            <a:srgbClr val="162748"/>
          </a:solidFill>
          <a:ln>
            <a:solidFill>
              <a:srgbClr val="2D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0" y="391363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D2DC"/>
                </a:solidFill>
                <a:latin typeface="Aptos"/>
              </a:defRPr>
            </a:pPr>
            <a:r>
              <a:t>ORDER &amp; FULFILMENT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389120"/>
            <a:ext cx="301752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Order state • shipment • notifications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749039"/>
            <a:ext cx="3383280" cy="1325880"/>
          </a:xfrm>
          <a:prstGeom prst="roundRect">
            <a:avLst/>
          </a:prstGeom>
          <a:solidFill>
            <a:srgbClr val="162748"/>
          </a:solidFill>
          <a:ln>
            <a:solidFill>
              <a:srgbClr val="2D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0" y="391363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D2DC"/>
                </a:solidFill>
                <a:latin typeface="Aptos"/>
              </a:defRPr>
            </a:pPr>
            <a:r>
              <a:t>SHARED INFRASTRUCTURE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389120"/>
            <a:ext cx="301752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Cache • database • message queue • logs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5778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B2C2DA"/>
                </a:solidFill>
                <a:latin typeface="Aptos"/>
              </a:defRPr>
            </a:pPr>
            <a:r>
              <a:t>Sync: stock reservation and checkout decisions   |   Async: order events, shipment and notifications</a:t>
            </a:r>
          </a:p>
        </p:txBody>
      </p:sp>
    </p:spTree>
    <p:extLst>
      <p:ext uri="{BB962C8B-B14F-4D97-AF65-F5344CB8AC3E}">
        <p14:creationId xmlns:p14="http://schemas.microsoft.com/office/powerpoint/2010/main" val="3969630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rPr dirty="0"/>
              <a:t>0</a:t>
            </a:r>
            <a:r>
              <a:rPr lang="en-US" dirty="0"/>
              <a:t>5</a:t>
            </a:r>
            <a:r>
              <a:rPr dirty="0"/>
              <a:t> Concurrency-Safe 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00D2DC"/>
                </a:solidFill>
                <a:latin typeface="Aptos"/>
              </a:defRPr>
            </a:pPr>
            <a:r>
              <a:t>05/10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83280" cy="1371600"/>
          </a:xfrm>
          <a:prstGeom prst="roundRect">
            <a:avLst/>
          </a:prstGeom>
          <a:solidFill>
            <a:srgbClr val="162748"/>
          </a:solidFill>
          <a:ln>
            <a:solidFill>
              <a:srgbClr val="2D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D2DC"/>
                </a:solidFill>
                <a:latin typeface="Aptos"/>
              </a:defRPr>
            </a:pPr>
            <a:r>
              <a:t>1.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Validate stock and request key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83280" cy="1371600"/>
          </a:xfrm>
          <a:prstGeom prst="roundRect">
            <a:avLst/>
          </a:prstGeom>
          <a:solidFill>
            <a:srgbClr val="162748"/>
          </a:solidFill>
          <a:ln>
            <a:solidFill>
              <a:srgbClr val="2D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58191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A64D"/>
                </a:solidFill>
                <a:latin typeface="Aptos"/>
              </a:defRPr>
            </a:pPr>
            <a:r>
              <a:t>2. RESERVE ATOMICALLY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574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Only reserve if available_quantity &gt; 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383280" cy="1371600"/>
          </a:xfrm>
          <a:prstGeom prst="roundRect">
            <a:avLst/>
          </a:prstGeom>
          <a:solidFill>
            <a:srgbClr val="162748"/>
          </a:solidFill>
          <a:ln>
            <a:solidFill>
              <a:srgbClr val="2D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158191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D2DC"/>
                </a:solidFill>
                <a:latin typeface="Aptos"/>
              </a:defRPr>
            </a:pPr>
            <a:r>
              <a:t>3. RETURN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0574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Reserved or sold-out; never negative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4612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00D2DC"/>
                </a:solidFill>
                <a:latin typeface="Aptos"/>
              </a:defRPr>
            </a:pPr>
            <a:r>
              <a:t>RESERVATION LIFECYCLE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86200"/>
            <a:ext cx="1645920" cy="640080"/>
          </a:xfrm>
          <a:prstGeom prst="roundRect">
            <a:avLst/>
          </a:prstGeom>
          <a:solidFill>
            <a:srgbClr val="162748"/>
          </a:solidFill>
          <a:ln>
            <a:solidFill>
              <a:srgbClr val="00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8FF"/>
                </a:solidFill>
              </a:defRPr>
            </a:pPr>
            <a:r>
              <a:t>AVAILABLE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71800" y="3886200"/>
            <a:ext cx="1645920" cy="640080"/>
          </a:xfrm>
          <a:prstGeom prst="roundRect">
            <a:avLst/>
          </a:prstGeom>
          <a:solidFill>
            <a:srgbClr val="162748"/>
          </a:solidFill>
          <a:ln>
            <a:solidFill>
              <a:srgbClr val="00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8FF"/>
                </a:solidFill>
              </a:defRPr>
            </a:pPr>
            <a:r>
              <a:t>RESERVED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80" y="3886200"/>
            <a:ext cx="1645920" cy="640080"/>
          </a:xfrm>
          <a:prstGeom prst="roundRect">
            <a:avLst/>
          </a:prstGeom>
          <a:solidFill>
            <a:srgbClr val="162748"/>
          </a:solidFill>
          <a:ln>
            <a:solidFill>
              <a:srgbClr val="00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8FF"/>
                </a:solidFill>
              </a:defRPr>
            </a:pPr>
            <a:r>
              <a:t>PAYMENT_PENDING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3886200"/>
            <a:ext cx="1645920" cy="640080"/>
          </a:xfrm>
          <a:prstGeom prst="roundRect">
            <a:avLst/>
          </a:prstGeom>
          <a:solidFill>
            <a:srgbClr val="162748"/>
          </a:solidFill>
          <a:ln>
            <a:solidFill>
              <a:srgbClr val="00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8FF"/>
                </a:solidFill>
              </a:defRPr>
            </a:pPr>
            <a:r>
              <a:t>CONFIRMED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3886200"/>
            <a:ext cx="1645920" cy="640080"/>
          </a:xfrm>
          <a:prstGeom prst="roundRect">
            <a:avLst/>
          </a:prstGeom>
          <a:solidFill>
            <a:srgbClr val="162748"/>
          </a:solidFill>
          <a:ln>
            <a:solidFill>
              <a:srgbClr val="00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8FF"/>
                </a:solidFill>
              </a:defRPr>
            </a:pPr>
            <a:r>
              <a:t>SOLD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4050791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D2D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050791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D2D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050791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D2D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4050791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D2D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7492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700" b="0">
                <a:solidFill>
                  <a:srgbClr val="B2C2DA"/>
                </a:solidFill>
                <a:latin typeface="Aptos"/>
              </a:defRPr>
            </a:pPr>
            <a:r>
              <a:t>Failure / timeout → release reservation</a:t>
            </a:r>
          </a:p>
          <a:p>
            <a:pPr algn="ctr">
              <a:spcAft>
                <a:spcPts val="800"/>
              </a:spcAft>
              <a:defRPr sz="1700" b="0">
                <a:solidFill>
                  <a:srgbClr val="B2C2DA"/>
                </a:solidFill>
                <a:latin typeface="Aptos"/>
              </a:defRPr>
            </a:pPr>
            <a:r>
              <a:t>Duplicate request → return the existing result using an idempotency key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rPr dirty="0"/>
              <a:t>0</a:t>
            </a:r>
            <a:r>
              <a:rPr lang="en-US" dirty="0"/>
              <a:t>6</a:t>
            </a:r>
            <a:r>
              <a:rPr dirty="0"/>
              <a:t>  Reliable Payment &amp; Order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00D2DC"/>
                </a:solidFill>
                <a:latin typeface="Aptos"/>
              </a:defRPr>
            </a:pPr>
            <a:r>
              <a:t>06/10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383280" cy="3200400"/>
          </a:xfrm>
          <a:prstGeom prst="roundRect">
            <a:avLst/>
          </a:prstGeom>
          <a:solidFill>
            <a:srgbClr val="162748"/>
          </a:solidFill>
          <a:ln>
            <a:solidFill>
              <a:srgbClr val="2D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D2DC"/>
                </a:solidFill>
                <a:latin typeface="Aptos"/>
              </a:defRPr>
            </a:pPr>
            <a:r>
              <a:t>PAYMENT SUCCESS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Verify provider result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Confirm reservation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Publish payment/order event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Retry order creation safely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83280" cy="3200400"/>
          </a:xfrm>
          <a:prstGeom prst="roundRect">
            <a:avLst/>
          </a:prstGeom>
          <a:solidFill>
            <a:srgbClr val="162748"/>
          </a:solidFill>
          <a:ln>
            <a:solidFill>
              <a:srgbClr val="2D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58191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A64D"/>
                </a:solidFill>
                <a:latin typeface="Aptos"/>
              </a:defRPr>
            </a:pPr>
            <a:r>
              <a:t>PAYMENT FAILURE / TIMEOUT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5740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Mark payment state clearly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Release stock on confirmed failure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Retry/reconcile uncertain outcomes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Never blindly charge twice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383280" cy="3200400"/>
          </a:xfrm>
          <a:prstGeom prst="roundRect">
            <a:avLst/>
          </a:prstGeom>
          <a:solidFill>
            <a:srgbClr val="162748"/>
          </a:solidFill>
          <a:ln>
            <a:solidFill>
              <a:srgbClr val="2D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58191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D2DC"/>
                </a:solidFill>
                <a:latin typeface="Aptos"/>
              </a:defRPr>
            </a:pPr>
            <a:r>
              <a:t>ORDER SERVICE UNAVAILABLE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5740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Persist event for retry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Use idempotent consumer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Monitor queue backlog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Reconcile payment and order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663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F5F8FF"/>
                </a:solidFill>
                <a:latin typeface="Aptos"/>
              </a:defRPr>
            </a:pPr>
            <a:r>
              <a:t>Order lifecycle: CREATED → PAYMENT_PENDING → CONFIRMED → PROCESSING → SHIPPED → DELIVERED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rPr dirty="0"/>
              <a:t>0</a:t>
            </a:r>
            <a:r>
              <a:rPr lang="en-US" dirty="0"/>
              <a:t>7</a:t>
            </a:r>
            <a:r>
              <a:rPr dirty="0"/>
              <a:t>  Database &amp; API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00D2DC"/>
                </a:solidFill>
                <a:latin typeface="Aptos"/>
              </a:defRPr>
            </a:pPr>
            <a:r>
              <a:t>07/10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4297680"/>
          </a:xfrm>
          <a:prstGeom prst="roundRect">
            <a:avLst/>
          </a:prstGeom>
          <a:solidFill>
            <a:srgbClr val="162748"/>
          </a:solidFill>
          <a:ln>
            <a:solidFill>
              <a:srgbClr val="2D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D2DC"/>
                </a:solidFill>
                <a:latin typeface="Aptos"/>
              </a:defRPr>
            </a:pPr>
            <a:r>
              <a:t>CORE DATA ENTITIES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CUSTOMER • PRODUCT • INVENTORY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RESERVATION • CART / CART_ITEM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ORDER / ORDER_ITEM • PAYMENT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SALE / COUPON • SHIPMENT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NOTIFICATION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4297680"/>
          </a:xfrm>
          <a:prstGeom prst="roundRect">
            <a:avLst/>
          </a:prstGeom>
          <a:solidFill>
            <a:srgbClr val="162748"/>
          </a:solidFill>
          <a:ln>
            <a:solidFill>
              <a:srgbClr val="2D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58191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A64D"/>
                </a:solidFill>
                <a:latin typeface="Aptos"/>
              </a:defRPr>
            </a:pPr>
            <a:r>
              <a:t>IMPORTANT CONTROLS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Primary / foreign keys and constraints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available, reserved and sold quantities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Unique reservation and payment references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Idempotency key for duplicate requests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Transactions, indexes and audit timestamps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rPr dirty="0"/>
              <a:t>0</a:t>
            </a:r>
            <a:r>
              <a:rPr lang="en-US" dirty="0"/>
              <a:t>8</a:t>
            </a:r>
            <a:r>
              <a:rPr dirty="0"/>
              <a:t>  Low-Level Design, SOLID &amp;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00D2DC"/>
                </a:solidFill>
                <a:latin typeface="Aptos"/>
              </a:defRPr>
            </a:pPr>
            <a:r>
              <a:t>08/10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383280" cy="4389120"/>
          </a:xfrm>
          <a:prstGeom prst="roundRect">
            <a:avLst/>
          </a:prstGeom>
          <a:solidFill>
            <a:srgbClr val="162748"/>
          </a:solidFill>
          <a:ln>
            <a:solidFill>
              <a:srgbClr val="2D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D2DC"/>
                </a:solidFill>
                <a:latin typeface="Aptos"/>
              </a:defRPr>
            </a:pPr>
            <a:r>
              <a:t>CRITICAL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InventoryService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PaymentService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OrderService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Repository interfaces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Sequence + state diagrams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83280" cy="4389120"/>
          </a:xfrm>
          <a:prstGeom prst="roundRect">
            <a:avLst/>
          </a:prstGeom>
          <a:solidFill>
            <a:srgbClr val="162748"/>
          </a:solidFill>
          <a:ln>
            <a:solidFill>
              <a:srgbClr val="2D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58191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A64D"/>
                </a:solidFill>
                <a:latin typeface="Aptos"/>
              </a:defRPr>
            </a:pPr>
            <a:r>
              <a:t>SOLID IN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574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SRP: separate payment/order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OCP: extend providers without rewriting core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ISP: focused interfaces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DIP: depend on abstractions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LSP: substitutable implementations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383280" cy="4389120"/>
          </a:xfrm>
          <a:prstGeom prst="roundRect">
            <a:avLst/>
          </a:prstGeom>
          <a:solidFill>
            <a:srgbClr val="162748"/>
          </a:solidFill>
          <a:ln>
            <a:solidFill>
              <a:srgbClr val="2D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58191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D2DC"/>
                </a:solidFill>
                <a:latin typeface="Aptos"/>
              </a:defRPr>
            </a:pPr>
            <a:r>
              <a:t>DESIGN 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574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Strategy: payment/pricing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Factory: provider creation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State: order lifecycle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Adapter: external gateways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Observer: events/notifications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Circuit Breaker: unstable services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rPr dirty="0"/>
              <a:t>0</a:t>
            </a:r>
            <a:r>
              <a:rPr lang="en-US" dirty="0"/>
              <a:t>9 </a:t>
            </a:r>
            <a:r>
              <a:rPr dirty="0"/>
              <a:t>Scalability, Security &amp;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00D2DC"/>
                </a:solidFill>
                <a:latin typeface="Aptos"/>
              </a:defRPr>
            </a:pPr>
            <a:r>
              <a:t>09/10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383280" cy="4297680"/>
          </a:xfrm>
          <a:prstGeom prst="roundRect">
            <a:avLst/>
          </a:prstGeom>
          <a:solidFill>
            <a:srgbClr val="162748"/>
          </a:solidFill>
          <a:ln>
            <a:solidFill>
              <a:srgbClr val="2D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D2DC"/>
                </a:solidFill>
                <a:latin typeface="Aptos"/>
              </a:defRPr>
            </a:pPr>
            <a:r>
              <a:t>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Load balancing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Horizontal service scaling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Cache product reads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Queue asynchronous work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Identify DB hot spots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83280" cy="4297680"/>
          </a:xfrm>
          <a:prstGeom prst="roundRect">
            <a:avLst/>
          </a:prstGeom>
          <a:solidFill>
            <a:srgbClr val="162748"/>
          </a:solidFill>
          <a:ln>
            <a:solidFill>
              <a:srgbClr val="2D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58191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A64D"/>
                </a:solidFill>
                <a:latin typeface="Aptos"/>
              </a:defRPr>
            </a:pPr>
            <a:r>
              <a:t>SECURE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574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Authentication / authorization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HTTPS and input validation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Rate limiting / abuse protection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Secrets management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Audit logs; protect payment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383280" cy="4297680"/>
          </a:xfrm>
          <a:prstGeom prst="roundRect">
            <a:avLst/>
          </a:prstGeom>
          <a:solidFill>
            <a:srgbClr val="162748"/>
          </a:solidFill>
          <a:ln>
            <a:solidFill>
              <a:srgbClr val="2D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58191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D2DC"/>
                </a:solidFill>
                <a:latin typeface="Aptos"/>
              </a:defRPr>
            </a:pPr>
            <a:r>
              <a:t>OBSERVE &amp; RECOVER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574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Track latency and error rate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Alert on payment failures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Monitor reservation conflicts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Trace checkout → payment → order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Retry, dead-letter and reconcile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rPr lang="en-US"/>
              <a:t>1</a:t>
            </a:r>
            <a:r>
              <a:t>0  </a:t>
            </a:r>
            <a:r>
              <a:rPr dirty="0"/>
              <a:t>Validation, Trade-offs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00D2DC"/>
                </a:solidFill>
                <a:latin typeface="Aptos"/>
              </a:defRPr>
            </a:pPr>
            <a:r>
              <a:t>10/10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3474720"/>
          </a:xfrm>
          <a:prstGeom prst="roundRect">
            <a:avLst/>
          </a:prstGeom>
          <a:solidFill>
            <a:srgbClr val="162748"/>
          </a:solidFill>
          <a:ln>
            <a:solidFill>
              <a:srgbClr val="2D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D2DC"/>
                </a:solidFill>
                <a:latin typeface="Aptos"/>
              </a:defRPr>
            </a:pPr>
            <a:r>
              <a:t>TEST SCENARIOS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10,000 concurrent requests; stock = 100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95% payment success / 5% failure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2% duplicate requests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Order service down for 30 seconds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Inventory reaches zero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3474720"/>
          </a:xfrm>
          <a:prstGeom prst="roundRect">
            <a:avLst/>
          </a:prstGeom>
          <a:solidFill>
            <a:srgbClr val="162748"/>
          </a:solidFill>
          <a:ln>
            <a:solidFill>
              <a:srgbClr val="2D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58191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A64D"/>
                </a:solidFill>
                <a:latin typeface="Aptos"/>
              </a:defRPr>
            </a:pPr>
            <a:r>
              <a:t>WHAT SUCCESS LOOKS LIKE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Never sell more than available stock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Duplicate requests stay safe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Failed reservations are released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Orders recover after temporary outages</a:t>
            </a:r>
          </a:p>
          <a:p>
            <a:pPr>
              <a:spcAft>
                <a:spcPts val="8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Every decision has a clear trade-off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848</Words>
  <Application>Microsoft Office PowerPoint</Application>
  <PresentationFormat>Widescreen</PresentationFormat>
  <Paragraphs>189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</dc:creator>
  <cp:keywords/>
  <dc:description>generated using python-pptx</dc:description>
  <cp:lastModifiedBy>Admin</cp:lastModifiedBy>
  <cp:revision>4</cp:revision>
  <dcterms:created xsi:type="dcterms:W3CDTF">2013-01-27T09:14:16Z</dcterms:created>
  <dcterms:modified xsi:type="dcterms:W3CDTF">2026-10-09T04:13:37Z</dcterms:modified>
  <cp:category/>
</cp:coreProperties>
</file>